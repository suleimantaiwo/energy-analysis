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3.svg" ContentType="image/svg"/>
  <Override PartName="/ppt/media/image11.svg" ContentType="image/svg"/>
  <Override PartName="/ppt/media/image1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1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4630400" cy="8229600"/>
  <p:notesSz cx="8229600" cy="14630400"/>
  <p:embeddedFontLst>
    <p:embeddedFont>
      <p:font typeface="Calibri Light"/>
    </p:embeddedFont>
    <p:embeddedFont>
      <p:font typeface="Nobile"/>
      <p:regular r:id="rId16"/>
      <p:bold r:id="rId17"/>
      <p:italic r:id="rId18"/>
      <p:boldItalic r:id="rId19"/>
    </p:embeddedFont>
    <p:embeddedFont>
      <p:font typeface="Fraunces Extra Bold"/>
    </p:embeddedFont>
    <p:embeddedFont>
      <p:font typeface="Segoe UI Black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font" Target="fonts/Font_1_Nobile_Regular.fntdata"/><Relationship Id="rId17" Type="http://schemas.openxmlformats.org/officeDocument/2006/relationships/font" Target="fonts/Font_2_Nobile_Bold.fntdata"/><Relationship Id="rId18" Type="http://schemas.openxmlformats.org/officeDocument/2006/relationships/font" Target="fonts/Font_3_Nobile_Italic.fntdata"/><Relationship Id="rId19" Type="http://schemas.openxmlformats.org/officeDocument/2006/relationships/font" Target="fonts/Font_4_Nobile_BoldItalic.fntdata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F35CA31-EAC6-4D8C-B018-57EC6833D9C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93B4A4-41C3-4EF1-AB66-8BCC384902D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AE1413-F1A3-431B-B9AB-E01DACEFA61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2C5D62-E9E7-47C9-8E0A-0DEBC91A041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8A3198F-DBA8-48F3-8969-50FDCE9CB3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2A3FC7F-C7EF-4CA8-9F15-16D4057B0B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22DEBD-E4C3-450F-B9FA-AD7A4CCBD2B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885CC53-B136-4B47-BE8A-702A01C0A5F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4279D1-AC29-410F-A173-F9A529913E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491822-897E-4395-A16C-7D77C3F01F3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27520" cy="822672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448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4480" cy="47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05480" y="930600"/>
            <a:ext cx="126172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005480" y="2190600"/>
            <a:ext cx="12617280" cy="522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1"/>
          </p:nvPr>
        </p:nvSpPr>
        <p:spPr>
          <a:xfrm>
            <a:off x="4845960" y="7627680"/>
            <a:ext cx="4936680" cy="43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"/>
          </p:nvPr>
        </p:nvSpPr>
        <p:spPr>
          <a:xfrm>
            <a:off x="10332360" y="7627680"/>
            <a:ext cx="3290760" cy="43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D02354-C50D-41C8-AEEB-6F2E8F6094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3"/>
          </p:nvPr>
        </p:nvSpPr>
        <p:spPr>
          <a:xfrm>
            <a:off x="1005480" y="7627680"/>
            <a:ext cx="3290760" cy="43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005480" y="930600"/>
            <a:ext cx="126172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005480" y="2190600"/>
            <a:ext cx="12617280" cy="522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4"/>
          </p:nvPr>
        </p:nvSpPr>
        <p:spPr>
          <a:xfrm>
            <a:off x="4845960" y="7627680"/>
            <a:ext cx="4936680" cy="43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5"/>
          </p:nvPr>
        </p:nvSpPr>
        <p:spPr>
          <a:xfrm>
            <a:off x="10332360" y="7627680"/>
            <a:ext cx="3290760" cy="43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5FCEA8-F380-4058-8619-ACC7AEED20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dt" idx="6"/>
          </p:nvPr>
        </p:nvSpPr>
        <p:spPr>
          <a:xfrm>
            <a:off x="1005480" y="7627680"/>
            <a:ext cx="3290760" cy="43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sv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14.pn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ww.linkedin.com/in/suleimantaiwo/" TargetMode="External"/><Relationship Id="rId2" Type="http://schemas.openxmlformats.org/officeDocument/2006/relationships/hyperlink" Target="https://github.com/SuleimanTaiwo/Nigeria-Electricity-System-Analysis.git" TargetMode="External"/><Relationship Id="rId3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5483520" cy="8226720"/>
          </a:xfrm>
          <a:prstGeom prst="rect">
            <a:avLst/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8001000" y="2563920"/>
            <a:ext cx="5832720" cy="14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Nigeria's Structural Energy Deficit</a:t>
            </a:r>
            <a:endParaRPr lang="en-US" sz="4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8001000" y="4321800"/>
            <a:ext cx="583272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A Data-Driven Analysis of Energy Consumption and Economic Growth (2000–2024)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8001000" y="5302800"/>
            <a:ext cx="4114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 </a:t>
            </a:r>
            <a:r>
              <a:rPr lang="en-US" sz="2000" b="1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Suleiman Taiwo:</a:t>
            </a:r>
            <a:r>
              <a:rPr lang="en-US" sz="1750" b="0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  </a:t>
            </a:r>
            <a:r>
              <a:rPr lang="en-US" sz="1600" b="1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Energy Data Analyst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/>
          <p:cNvPicPr/>
          <p:nvPr/>
        </p:nvPicPr>
        <p:blipFill>
          <a:blip r:embed="rId1"/>
          <a:stretch/>
        </p:blipFill>
        <p:spPr>
          <a:xfrm>
            <a:off x="0" y="0"/>
            <a:ext cx="7771320" cy="82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24"/>
          <p:cNvSpPr/>
          <p:nvPr/>
        </p:nvSpPr>
        <p:spPr>
          <a:xfrm>
            <a:off x="8001000" y="6400800"/>
            <a:ext cx="38854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 </a:t>
            </a:r>
            <a:r>
              <a:rPr lang="en-US" sz="2000" b="1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Date:</a:t>
            </a:r>
            <a:r>
              <a:rPr lang="en-US" sz="1750" b="0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  </a:t>
            </a:r>
            <a:r>
              <a:rPr lang="en-US" sz="1600" b="1" i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May,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3200400" y="457200"/>
            <a:ext cx="7313760" cy="1141560"/>
          </a:xfrm>
          <a:prstGeom prst="roundRect">
            <a:avLst>
              <a:gd name="adj" fmla="val 16667"/>
            </a:avLst>
          </a:prstGeom>
          <a:solidFill>
            <a:srgbClr val="AFD095"/>
          </a:solid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EXECUTIVE SUMMARY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143000" y="2514600"/>
            <a:ext cx="9699120" cy="29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Nigeria’s energy consumption per capita is significantly lower than peer economies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Low energy intensity reflects constraint, not efficiency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Energy growth is diluted by rapid population increase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Nigeria operates at ~13% of expected energy levels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143000" y="6629400"/>
            <a:ext cx="10514160" cy="1141560"/>
          </a:xfrm>
          <a:prstGeom prst="roundRect">
            <a:avLst>
              <a:gd name="adj" fmla="val 16667"/>
            </a:avLst>
          </a:prstGeom>
          <a:solidFill>
            <a:srgbClr val="FFE994"/>
          </a:solidFill>
          <a:ln w="0">
            <a:solidFill>
              <a:srgbClr val="3465A4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Nigeria’s low energy intensity reflects constraint, not efficiency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5483520" cy="8226720"/>
          </a:xfrm>
          <a:prstGeom prst="rect">
            <a:avLst/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6280200" y="653040"/>
            <a:ext cx="5667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The Paradox</a:t>
            </a:r>
            <a:endParaRPr lang="en-US" sz="4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6280200" y="1702080"/>
            <a:ext cx="3661920" cy="2392920"/>
          </a:xfrm>
          <a:prstGeom prst="roundRect">
            <a:avLst>
              <a:gd name="adj" fmla="val 8521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6507000" y="1928880"/>
            <a:ext cx="28324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Largest Economy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6507000" y="2419200"/>
            <a:ext cx="3208320" cy="14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Nigeria is one of Africa's largest economies by GDP, with significant economic potential.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10171800" y="1702080"/>
            <a:ext cx="3661920" cy="2392920"/>
          </a:xfrm>
          <a:prstGeom prst="roundRect">
            <a:avLst>
              <a:gd name="adj" fmla="val 8521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10398600" y="1928880"/>
            <a:ext cx="28324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Major Producer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10398600" y="2419200"/>
            <a:ext cx="3208320" cy="10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A leading oil &amp; gas producer with vast natural energy resources.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6280200" y="4324680"/>
            <a:ext cx="7553520" cy="1666800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6507000" y="4551480"/>
            <a:ext cx="28324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Energy-Poor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6507000" y="5041800"/>
            <a:ext cx="709992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Yet energy consumption per capita remains critically low — among the lowest globally.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6280200" y="6249600"/>
            <a:ext cx="7553520" cy="1323720"/>
          </a:xfrm>
          <a:prstGeom prst="roundRect">
            <a:avLst>
              <a:gd name="adj" fmla="val 15387"/>
            </a:avLst>
          </a:prstGeom>
          <a:solidFill>
            <a:srgbClr val="FCF2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1" descr="preencoded.png"/>
          <p:cNvPicPr/>
          <p:nvPr/>
        </p:nvPicPr>
        <p:blipFill>
          <a:blip r:embed="rId1"/>
          <a:stretch/>
        </p:blipFill>
        <p:spPr>
          <a:xfrm>
            <a:off x="6507000" y="6578280"/>
            <a:ext cx="280440" cy="2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12"/>
          <p:cNvSpPr/>
          <p:nvPr/>
        </p:nvSpPr>
        <p:spPr>
          <a:xfrm>
            <a:off x="7017480" y="6532920"/>
            <a:ext cx="658944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00000"/>
                </a:solidFill>
                <a:effectLst/>
                <a:uFillTx/>
                <a:latin typeface="Nobile"/>
                <a:ea typeface="Nobile"/>
              </a:rPr>
              <a:t>Why does a resource-rich economy remain energy-poor?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/>
          <p:cNvPicPr/>
          <p:nvPr/>
        </p:nvPicPr>
        <p:blipFill>
          <a:blip r:embed="rId2"/>
          <a:stretch/>
        </p:blipFill>
        <p:spPr>
          <a:xfrm>
            <a:off x="0" y="0"/>
            <a:ext cx="5713560" cy="822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793800" y="1541880"/>
            <a:ext cx="1091088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Nigeria Has a Severe Energy Scale Gap</a:t>
            </a:r>
            <a:endParaRPr lang="en-US" sz="4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7599600" y="2817720"/>
            <a:ext cx="306000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What the Data Shows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7599600" y="3398760"/>
            <a:ext cx="6241680" cy="10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Total energy consumption has grown slowly over 24 years — but per capita energy has remained nearly flat, hovering around </a:t>
            </a:r>
            <a:r>
              <a:rPr lang="en-US" sz="1750" b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2,3000 KWh/person</a:t>
            </a: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7599600" y="4742640"/>
            <a:ext cx="6241680" cy="1686600"/>
          </a:xfrm>
          <a:prstGeom prst="roundRect">
            <a:avLst>
              <a:gd name="adj" fmla="val 12082"/>
            </a:avLst>
          </a:prstGeom>
          <a:solidFill>
            <a:srgbClr val="CCE6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1" descr="preencoded.png"/>
          <p:cNvPicPr/>
          <p:nvPr/>
        </p:nvPicPr>
        <p:blipFill>
          <a:blip r:embed="rId1"/>
          <a:stretch/>
        </p:blipFill>
        <p:spPr>
          <a:xfrm>
            <a:off x="7826400" y="5071680"/>
            <a:ext cx="280440" cy="2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4"/>
          <p:cNvSpPr/>
          <p:nvPr/>
        </p:nvSpPr>
        <p:spPr>
          <a:xfrm>
            <a:off x="8336520" y="5026320"/>
            <a:ext cx="5277960" cy="10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Nobile"/>
                <a:ea typeface="Nobile"/>
              </a:rPr>
              <a:t>Population growth is absorbing all gains. More energy is being produced, but individual Nigerians are not getting more of it.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6120" y="2971800"/>
            <a:ext cx="7307640" cy="411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781560" y="720000"/>
            <a:ext cx="947340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451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Low Energy Intensity ≠ Efficiency</a:t>
            </a:r>
            <a:endParaRPr lang="en-US" sz="4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7595280" y="1967040"/>
            <a:ext cx="3433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Reading the Scatter Plot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7595280" y="2535840"/>
            <a:ext cx="625860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Nigeria sits in the bottom-left quadrant — </a:t>
            </a:r>
            <a:r>
              <a:rPr lang="en-US" sz="1750" b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low GDP and low energy intensity</a:t>
            </a: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. This is not a sign of efficiency; it reflects severe energy constraint.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7595280" y="3796560"/>
            <a:ext cx="6258600" cy="227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750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Higher-income peers use significantly more energy per unit of GDP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750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Energy intensity rises with industrialization — a sign of productive capacity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750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Nigeria's low intensity signals under-consumption, not optimization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7595280" y="6323400"/>
            <a:ext cx="6258600" cy="936360"/>
          </a:xfrm>
          <a:prstGeom prst="roundRect">
            <a:avLst>
              <a:gd name="adj" fmla="val 21397"/>
            </a:avLst>
          </a:prstGeom>
          <a:solidFill>
            <a:srgbClr val="FCF2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1" descr="preencoded.png"/>
          <p:cNvPicPr/>
          <p:nvPr/>
        </p:nvPicPr>
        <p:blipFill>
          <a:blip r:embed="rId1"/>
          <a:stretch/>
        </p:blipFill>
        <p:spPr>
          <a:xfrm>
            <a:off x="7818480" y="6643080"/>
            <a:ext cx="276120" cy="22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5"/>
          <p:cNvSpPr/>
          <p:nvPr/>
        </p:nvSpPr>
        <p:spPr>
          <a:xfrm>
            <a:off x="8320680" y="6598800"/>
            <a:ext cx="530964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000000"/>
                </a:solidFill>
                <a:effectLst/>
                <a:uFillTx/>
                <a:latin typeface="Nobile"/>
                <a:ea typeface="Nobile"/>
              </a:rPr>
              <a:t>Nigeria is not efficient — it is under powered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/>
          <p:cNvPicPr/>
          <p:nvPr/>
        </p:nvPicPr>
        <p:blipFill>
          <a:blip r:embed="rId2"/>
          <a:stretch/>
        </p:blipFill>
        <p:spPr>
          <a:xfrm>
            <a:off x="228600" y="2286000"/>
            <a:ext cx="7085160" cy="457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744120" y="594000"/>
            <a:ext cx="13138920" cy="13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199"/>
              </a:lnSpc>
              <a:tabLst>
                <a:tab pos="0" algn="l"/>
              </a:tabLst>
            </a:pPr>
            <a:r>
              <a:rPr lang="en-US" sz="41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Economic Growth Is Not Translating into Energy Access</a:t>
            </a:r>
            <a:endParaRPr lang="en-US" sz="4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9829800" y="2514600"/>
            <a:ext cx="48744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9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0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Access &amp; development 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9829800" y="3428640"/>
            <a:ext cx="42894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51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GDP has grown steadily over time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9829800" y="4114800"/>
            <a:ext cx="4060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51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Energy per capita remains flat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3600" y="2057400"/>
            <a:ext cx="9367920" cy="47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Shape 15"/>
          <p:cNvSpPr/>
          <p:nvPr/>
        </p:nvSpPr>
        <p:spPr>
          <a:xfrm>
            <a:off x="199800" y="7060320"/>
            <a:ext cx="27720" cy="116820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tIns="45000" rIns="140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11720" y="7384680"/>
            <a:ext cx="774540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Economic growth is not improving energy availability per person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11"/>
          <p:cNvSpPr/>
          <p:nvPr/>
        </p:nvSpPr>
        <p:spPr>
          <a:xfrm>
            <a:off x="744120" y="594000"/>
            <a:ext cx="13138920" cy="13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19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41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Nigeria Operates Far Below Expected Energy Levels</a:t>
            </a:r>
            <a:endParaRPr lang="en-US" sz="4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519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4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7581960" y="2421000"/>
            <a:ext cx="273528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99"/>
              </a:lnSpc>
              <a:tabLst>
                <a:tab pos="0" algn="l"/>
              </a:tabLst>
            </a:pPr>
            <a:r>
              <a:rPr lang="en-US" sz="20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The 87% Energy Gap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7581960" y="2952720"/>
            <a:ext cx="6308640" cy="9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Using peer economies as benchmarks, Nigeria achieves only </a:t>
            </a:r>
            <a:r>
              <a:rPr lang="en-US" sz="1650" b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~13% of expected energy consumption</a:t>
            </a: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 relative to its economic size.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7581960" y="4120920"/>
            <a:ext cx="63086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If Nigeria matched Brazil's energy profile, total consumption would need to be </a:t>
            </a:r>
            <a:r>
              <a:rPr lang="en-US" sz="1650" b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7–8× higher</a:t>
            </a: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 than today.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744120" y="6428880"/>
            <a:ext cx="6468480" cy="1203840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9"/>
          <p:cNvSpPr/>
          <p:nvPr/>
        </p:nvSpPr>
        <p:spPr>
          <a:xfrm>
            <a:off x="956880" y="6641640"/>
            <a:ext cx="26553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99"/>
              </a:lnSpc>
              <a:tabLst>
                <a:tab pos="0" algn="l"/>
              </a:tabLst>
            </a:pPr>
            <a:r>
              <a:rPr lang="en-US" sz="20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13%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956880" y="7093440"/>
            <a:ext cx="60429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Benchmark achievement rate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7414920" y="6428880"/>
            <a:ext cx="6468480" cy="1203840"/>
          </a:xfrm>
          <a:prstGeom prst="roundRect">
            <a:avLst>
              <a:gd name="adj" fmla="val 15860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7627680" y="6641640"/>
            <a:ext cx="26553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99"/>
              </a:lnSpc>
              <a:tabLst>
                <a:tab pos="0" algn="l"/>
              </a:tabLst>
            </a:pPr>
            <a:r>
              <a:rPr lang="en-US" sz="20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87%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7627680" y="7093440"/>
            <a:ext cx="60429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Unmet energy gap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228600" y="2057400"/>
            <a:ext cx="6856920" cy="411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1"/>
          <p:cNvSpPr/>
          <p:nvPr/>
        </p:nvSpPr>
        <p:spPr>
          <a:xfrm>
            <a:off x="6255360" y="623160"/>
            <a:ext cx="54907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400"/>
              </a:lnSpc>
              <a:tabLst>
                <a:tab pos="0" algn="l"/>
              </a:tabLst>
            </a:pPr>
            <a:r>
              <a:rPr lang="en-US" sz="430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What This Means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255360" y="1629000"/>
            <a:ext cx="436680" cy="43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2"/>
          <p:cNvSpPr/>
          <p:nvPr/>
        </p:nvSpPr>
        <p:spPr>
          <a:xfrm>
            <a:off x="6960960" y="1704240"/>
            <a:ext cx="340812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Industrialization Stalled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6960960" y="2175120"/>
            <a:ext cx="689760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Without adequate energy, manufacturing cannot scale. Industries remain small, informal, or non-existent.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2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255360" y="3293280"/>
            <a:ext cx="436680" cy="43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4"/>
          <p:cNvSpPr/>
          <p:nvPr/>
        </p:nvSpPr>
        <p:spPr>
          <a:xfrm>
            <a:off x="6960960" y="3368520"/>
            <a:ext cx="354600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Productivity Constrained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6960960" y="3839400"/>
            <a:ext cx="689760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Businesses face chronic outages, raising costs and limiting output across all sectors.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255360" y="4957560"/>
            <a:ext cx="436680" cy="43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6"/>
          <p:cNvSpPr/>
          <p:nvPr/>
        </p:nvSpPr>
        <p:spPr>
          <a:xfrm>
            <a:off x="6960960" y="5032800"/>
            <a:ext cx="299664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Development Limited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6960960" y="5503680"/>
            <a:ext cx="689760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0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Human development indicators — health, education, income — are tightly coupled to energy access.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585120" y="6674760"/>
            <a:ext cx="781632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Nigeria’s core problem is not inefficiency but </a:t>
            </a:r>
            <a:r>
              <a:rPr lang="en-US" sz="1700" b="1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structural under consumption of energy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6255360" y="6435360"/>
            <a:ext cx="27720" cy="116820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040" tIns="45000" rIns="140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7"/>
          <a:stretch/>
        </p:blipFill>
        <p:spPr>
          <a:xfrm>
            <a:off x="228600" y="228600"/>
            <a:ext cx="5715000" cy="777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793800" y="1164240"/>
            <a:ext cx="936576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Three Pillars for Closing the Gap</a:t>
            </a:r>
            <a:endParaRPr lang="en-US" sz="4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824400" y="2349720"/>
            <a:ext cx="4193640" cy="4507200"/>
          </a:xfrm>
          <a:prstGeom prst="roundRect">
            <a:avLst>
              <a:gd name="adj" fmla="val 4865"/>
            </a:avLst>
          </a:prstGeom>
          <a:solidFill>
            <a:srgbClr val="B4C7DC"/>
          </a:solidFill>
          <a:ln w="3048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"/>
          <p:cNvSpPr/>
          <p:nvPr/>
        </p:nvSpPr>
        <p:spPr>
          <a:xfrm>
            <a:off x="824400" y="2356920"/>
            <a:ext cx="4190760" cy="677520"/>
          </a:xfrm>
          <a:prstGeom prst="roundRect">
            <a:avLst>
              <a:gd name="adj" fmla="val 24627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2721960" y="2484720"/>
            <a:ext cx="33732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650"/>
              </a:lnSpc>
              <a:tabLst>
                <a:tab pos="0" algn="l"/>
              </a:tabLst>
            </a:pPr>
            <a:r>
              <a:rPr lang="en-US" sz="26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1</a:t>
            </a:r>
            <a:endParaRPr lang="en-US" sz="2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1051200" y="3264480"/>
            <a:ext cx="290232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Scale Energy Supply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051200" y="3754800"/>
            <a:ext cx="3678840" cy="23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Expand generation capacity and diversify energy sources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Modernize transmission and distribution infrastructure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Reduce technical and commercial losses in the grid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6"/>
          <p:cNvSpPr/>
          <p:nvPr/>
        </p:nvSpPr>
        <p:spPr>
          <a:xfrm>
            <a:off x="5217120" y="2326680"/>
            <a:ext cx="4193640" cy="4478400"/>
          </a:xfrm>
          <a:prstGeom prst="roundRect">
            <a:avLst>
              <a:gd name="adj" fmla="val 4865"/>
            </a:avLst>
          </a:prstGeom>
          <a:solidFill>
            <a:srgbClr val="FFFFD7"/>
          </a:solidFill>
          <a:ln w="3048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5247360" y="2356920"/>
            <a:ext cx="4132440" cy="677520"/>
          </a:xfrm>
          <a:prstGeom prst="roundRect">
            <a:avLst>
              <a:gd name="adj" fmla="val 24627"/>
            </a:avLst>
          </a:prstGeom>
          <a:solidFill>
            <a:srgbClr val="FFFF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7144920" y="2484720"/>
            <a:ext cx="33732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650"/>
              </a:lnSpc>
              <a:tabLst>
                <a:tab pos="0" algn="l"/>
              </a:tabLst>
            </a:pPr>
            <a:r>
              <a:rPr lang="en-US" sz="26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2</a:t>
            </a:r>
            <a:endParaRPr lang="en-US" sz="2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5474160" y="3264480"/>
            <a:ext cx="3678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Align Energy with Population &amp; GDP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5474160" y="4109040"/>
            <a:ext cx="3678840" cy="26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Track energy per capita as a core national KPI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Ensure energy growth consistently outpaces population growth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Set binding targets tied to GDP expansion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9640080" y="2326680"/>
            <a:ext cx="4193640" cy="4530240"/>
          </a:xfrm>
          <a:prstGeom prst="roundRect">
            <a:avLst>
              <a:gd name="adj" fmla="val 4865"/>
            </a:avLst>
          </a:prstGeom>
          <a:solidFill>
            <a:srgbClr val="DDE8CB"/>
          </a:solidFill>
          <a:ln w="3048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2"/>
          <p:cNvSpPr/>
          <p:nvPr/>
        </p:nvSpPr>
        <p:spPr>
          <a:xfrm>
            <a:off x="9670680" y="2356920"/>
            <a:ext cx="4132440" cy="677520"/>
          </a:xfrm>
          <a:prstGeom prst="roundRect">
            <a:avLst>
              <a:gd name="adj" fmla="val 24627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11568240" y="2484720"/>
            <a:ext cx="33732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650"/>
              </a:lnSpc>
              <a:tabLst>
                <a:tab pos="0" algn="l"/>
              </a:tabLst>
            </a:pPr>
            <a:r>
              <a:rPr lang="en-US" sz="265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3</a:t>
            </a:r>
            <a:endParaRPr lang="en-US" sz="2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9897480" y="3264480"/>
            <a:ext cx="367884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05449"/>
                </a:solidFill>
                <a:effectLst/>
                <a:uFillTx/>
                <a:latin typeface="Fraunces Extra Bold"/>
                <a:ea typeface="Fraunces Extra Bold"/>
              </a:rPr>
              <a:t>Enable Data-Driven Planning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9897480" y="4109040"/>
            <a:ext cx="3678840" cy="23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Build demand forecasting models for regional planning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Use analytics to prioritize investment decisions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Create transparent energy dashboards for accountability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914400" y="6999840"/>
            <a:ext cx="12800520" cy="1000080"/>
          </a:xfrm>
          <a:prstGeom prst="roundRect">
            <a:avLst>
              <a:gd name="adj" fmla="val 12896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4" descr="preencoded.png"/>
          <p:cNvPicPr/>
          <p:nvPr/>
        </p:nvPicPr>
        <p:blipFill>
          <a:blip r:embed="rId1"/>
          <a:stretch/>
        </p:blipFill>
        <p:spPr>
          <a:xfrm>
            <a:off x="1143000" y="7315200"/>
            <a:ext cx="65700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23"/>
          <p:cNvSpPr/>
          <p:nvPr/>
        </p:nvSpPr>
        <p:spPr>
          <a:xfrm>
            <a:off x="1811520" y="7148160"/>
            <a:ext cx="117853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00000"/>
                </a:solidFill>
                <a:effectLst/>
                <a:uFillTx/>
                <a:latin typeface="Nobile"/>
                <a:ea typeface="Nobile"/>
              </a:rPr>
              <a:t>Closing the energy gap enables industrial growth, higher productivity, and sustainable economic development. </a:t>
            </a: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Nobile"/>
                <a:ea typeface="Nobile"/>
              </a:rPr>
              <a:t>Nigeria’s challenge is not optimizing energy usage – it’s scaling energy availability to match her economic ambitions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793800" y="793440"/>
            <a:ext cx="794592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How the Analysis Was Done</a:t>
            </a:r>
            <a:endParaRPr lang="en-US" sz="4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93800" y="2770920"/>
            <a:ext cx="28324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Data Source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793800" y="3352320"/>
            <a:ext cx="42022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Our World in Data (2000–2024)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793800" y="3942000"/>
            <a:ext cx="297684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Countries Compared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793800" y="4523040"/>
            <a:ext cx="4202280" cy="21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Nigeria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Brazil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South Africa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Indonesia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4054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Mexico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5559840" y="2069280"/>
            <a:ext cx="28324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B4540"/>
                </a:solidFill>
                <a:effectLst/>
                <a:uFillTx/>
                <a:latin typeface="Fraunces Extra Bold"/>
                <a:ea typeface="Fraunces Extra Bold"/>
              </a:rPr>
              <a:t>Analytical Pipeline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preencoded.png"/>
          <p:cNvPicPr/>
          <p:nvPr/>
        </p:nvPicPr>
        <p:blipFill>
          <a:blip r:embed="rId1"/>
          <a:stretch/>
        </p:blipFill>
        <p:spPr>
          <a:xfrm>
            <a:off x="5486400" y="2678760"/>
            <a:ext cx="8281080" cy="356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6"/>
          <p:cNvSpPr/>
          <p:nvPr/>
        </p:nvSpPr>
        <p:spPr>
          <a:xfrm>
            <a:off x="6117480" y="5573520"/>
            <a:ext cx="18766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Fraunces Extra Bold"/>
                <a:ea typeface="Fraunces Extra Bold"/>
              </a:rPr>
              <a:t>Git and GitHub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8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6117480" y="4746600"/>
            <a:ext cx="18766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Fraunces Extra Bold"/>
                <a:ea typeface="Fraunces Extra Bold"/>
              </a:rPr>
              <a:t>Power Bi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6117480" y="3927960"/>
            <a:ext cx="18766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Fraunces Extra Bold"/>
                <a:ea typeface="Fraunces Extra Bold"/>
              </a:rPr>
              <a:t>PostgreSQL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6117480" y="3101040"/>
            <a:ext cx="18766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8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Fraunces Extra Bold"/>
                <a:ea typeface="Fraunces Extra Bold"/>
              </a:rPr>
              <a:t>Python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5559840" y="6506280"/>
            <a:ext cx="828108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05449"/>
                </a:solidFill>
                <a:effectLst/>
                <a:uFillTx/>
                <a:latin typeface="Nobile"/>
                <a:ea typeface="Nobile"/>
              </a:rPr>
              <a:t>A reproducible, end-to-end pipeline ensuring data integrity from raw source to final insight.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28440" y="257400"/>
            <a:ext cx="1261728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Contact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63360" y="5191200"/>
            <a:ext cx="6518520" cy="15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1151640" y="988200"/>
            <a:ext cx="12866760" cy="47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📧 Email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	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Suleyimantaiwo@gmail.com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🔗 LinkedIn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	</a:t>
            </a:r>
            <a:r>
              <a:rPr lang="en-US" sz="1800" b="0" u="sng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  <a:hlinkClick r:id="rId1"/>
              </a:rPr>
              <a:t>https://www.linkedin.com/in/suleimantaiwo/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💻 GitHub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	</a:t>
            </a:r>
            <a:r>
              <a:rPr lang="en-US" sz="1800" b="0" u="sng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  <a:hlinkClick r:id="rId2"/>
              </a:rPr>
              <a:t>https://github.com/SuleimanTaiwo/Nigeria-Electricity-System-Analysis.git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🌍 Portfolio Website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  <a:tabLst>
                <a:tab pos="45720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	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Segoe UI Black"/>
                <a:ea typeface="Segoe UI Black"/>
              </a:rPr>
              <a:t>https://suleyimantaiwo.wixsite.com/portfolio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</TotalTime>
  <Application>LibreOffice/26.2.2.2$Windows_X86_64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2026-04-19T08:55:21Z</dcterms:created>
  <dc:creator/>
  <dc:description/>
  <dc:language>en-US</dc:language>
  <cp:lastModifiedBy/>
  <dcterms:modified xsi:type="dcterms:W3CDTF">2026-05-18T08:21:06Z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